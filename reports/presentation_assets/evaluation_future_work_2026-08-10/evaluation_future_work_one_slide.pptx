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5fb8ef2ea4ce7" /><Relationship Type="http://schemas.openxmlformats.org/officeDocument/2006/relationships/extended-properties" Target="/docProps/app.xml" Id="Rc2a7d42a35004a93" /><Relationship Type="http://schemas.openxmlformats.org/officeDocument/2006/relationships/officeDocument" Target="/ppt/presentation.xml" Id="Rf7068cb37dd0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5fb42ba6a74aa6"/>
  </p:sldMasterIdLst>
  <p:notesMasterIdLst>
    <p:notesMasterId xmlns:r="http://schemas.openxmlformats.org/officeDocument/2006/relationships" r:id="R4e828d678db44d18"/>
  </p:notesMasterIdLst>
  <p:sldIdLst>
    <p:sldId xmlns:r="http://schemas.openxmlformats.org/officeDocument/2006/relationships" id="256" r:id="R7450cab2250548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fbb26337d446e" /><Relationship Type="http://schemas.openxmlformats.org/officeDocument/2006/relationships/slideMaster" Target="/ppt/slideMasters/slideMaster1.xml" Id="Rc65fb42ba6a74aa6" /><Relationship Type="http://schemas.openxmlformats.org/officeDocument/2006/relationships/notesMaster" Target="/ppt/notesMasters/notesMaster1.xml" Id="R4e828d678db44d18" /><Relationship Type="http://schemas.openxmlformats.org/officeDocument/2006/relationships/presProps" Target="/ppt/presProps.xml" Id="Rba4c5455fcd84281" /><Relationship Type="http://schemas.openxmlformats.org/officeDocument/2006/relationships/tableStyles" Target="/ppt/tableStyles.xml" Id="R9de69be654e441db" /><Relationship Type="http://schemas.openxmlformats.org/officeDocument/2006/relationships/slide" Target="/ppt/slides/slide1.xml" Id="R7450cab2250548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175220f5ed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e4f5a2bc24ae3" /><Relationship Type="http://schemas.openxmlformats.org/officeDocument/2006/relationships/notesMaster" Target="/ppt/notesMasters/notesMaster1.xml" Id="Rf221d05f5efb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1 evaluates the generators across three seeds. VAE-v3 was stable: the CRNN recognized the requested species with 96.9% macro F1 and only 0.5-point variation. Diffusion was unstable: two seeds reached about 93%, but seed 42 fell to 19%, revealing a serious failure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 3 asks whether generated data helps when labels are scarce. With 50 real spectrograms per species, the CRNN scored 84.75% macro F1. Adding 200 VAE samples raised it to 87.69%—a 2.93-point gain, positive in eight of nine matched runs. Diffusion added only 0.42 points and was inconsistent.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Overall, generated data can help, but stability matters. Next, I would test truly rare species, use an external holdout, audit generator training exposure, and try more than 200 samples per species. With the full real dataset, neither generator showed a mean 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https://github.com/Bleu7101/bird_song_gen/blob/main/reports/generator_checkpoint_evaluation_2026-08-10/classifier_scores.csv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https://github.com/Bleu7101/bird_song_gen/blob/main/reports/crnn_low_resource_augmentation_2026-08-10/summary.json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https://github.com/Bleu7101/bird_song_gen/blob/main/reports/crnn_synthetic_augmentation_2026-08-09/test_summary.csv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73124809243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1be85ee1e946bd" /><Relationship Type="http://schemas.openxmlformats.org/officeDocument/2006/relationships/slideLayout" Target="/ppt/slideLayouts/slideLayout1.xml" Id="R42fb56f1e6f64b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b56f1e6f64b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6c5f641dd4366" /><Relationship Type="http://schemas.openxmlformats.org/officeDocument/2006/relationships/chart" Target="/ppt/slides/charts/chart1.xml" Id="Rcd0d16c0df6a4e05" /><Relationship Type="http://schemas.openxmlformats.org/officeDocument/2006/relationships/chart" Target="/ppt/slides/charts/chart2.xml" Id="Ra2a578cd66094ffd" /><Relationship Type="http://schemas.openxmlformats.org/officeDocument/2006/relationships/notesSlide" Target="/ppt/notesSlides/notesSlide1.xml" Id="Rc54ec660523f4b4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VAE-v3</c:v>
          </c:tx>
          <c:spPr>
            <a:ln xmlns:a="http://schemas.openxmlformats.org/drawingml/2006/main" w="38100">
              <a:solidFill>
                <a:srgbClr val="087E8B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087E8B"/>
              </a:solidFill>
            </c:spPr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777</c:v>
              </c:pt>
            </c:numLit>
          </c:cat>
          <c:val>
            <c:numLit>
              <c:formatCode>0"%"</c:formatCode>
              <c:ptCount val="3"/>
              <c:pt idx="0">
                <c:v>96.5</c:v>
              </c:pt>
              <c:pt idx="1">
                <c:v>96.67</c:v>
              </c:pt>
              <c:pt idx="2">
                <c:v>97.5</c:v>
              </c:pt>
            </c:numLit>
          </c:val>
        </c:ser>
        <c:ser>
          <c:idx val="1"/>
          <c:order val="1"/>
          <c:tx>
            <c:v>Diffusion</c:v>
          </c:tx>
          <c:spPr>
            <a:ln xmlns:a="http://schemas.openxmlformats.org/drawingml/2006/main" w="38100">
              <a:solidFill>
                <a:srgbClr val="F28E2B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E2B"/>
              </a:solidFill>
            </c:spPr>
          </c:marker>
          <c:cat>
            <c:numLit>
              <c:formatCode>General</c:formatCode>
              <c:ptCount val="3"/>
              <c:pt idx="0">
                <c:v>42</c:v>
              </c:pt>
              <c:pt idx="1">
                <c:v>123</c:v>
              </c:pt>
              <c:pt idx="2">
                <c:v>777</c:v>
              </c:pt>
            </c:numLit>
          </c:cat>
          <c:val>
            <c:numLit>
              <c:formatCode>0"%"</c:formatCode>
              <c:ptCount val="3"/>
              <c:pt idx="0">
                <c:v>34.5</c:v>
              </c:pt>
              <c:pt idx="1">
                <c:v>92.67</c:v>
              </c:pt>
              <c:pt idx="2">
                <c:v>93.17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472"/>
                    </a:solidFill>
                  </a:rPr>
                  <a:t>Generation seed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B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472"/>
                    </a:solidFill>
                  </a:rPr>
                  <a:t>Target-label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472"/>
                  </a:solidFill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7DB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5F6F8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5F6F8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 gain</c:v>
          </c:tx>
          <c:dPt>
            <c:idx val="0"/>
            <c:invertIfNegative val="0"/>
            <c:spPr>
              <a:solidFill xmlns:a="http://schemas.openxmlformats.org/drawingml/2006/main">
                <a:srgbClr val="087E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cat>
            <c:strLit>
              <c:ptCount val="2"/>
              <c:pt idx="0">
                <c:v>+ VAE-v3</c:v>
              </c:pt>
              <c:pt idx="1">
                <c:v>+ Diffusion</c:v>
              </c:pt>
            </c:strLit>
          </c:cat>
          <c:val>
            <c:numLit>
              <c:formatCode>0.00</c:formatCode>
              <c:ptCount val="2"/>
              <c:pt idx="0">
                <c:v>2.93</c:v>
              </c:pt>
              <c:pt idx="1">
                <c:v>0.42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B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B6472"/>
                    </a:solidFill>
                  </a:rPr>
                  <a:t>Paired macro-F1 gain (pp)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B6472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B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5F6F8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5F6F8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4A2DC5-A0DD-4CD0-A574-F9CD141F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Stable generation helps scarce-label classification</a:t>
            </a:r>
          </a:p>
        </p:txBody>
      </p:sp>
      <p:sp>
        <p:nvSpPr>
          <p:cNvPr id="2" name="scope-line">
            <a:extLst xmlns:a="http://schemas.openxmlformats.org/drawingml/2006/main">
              <a:ext uri="{FF2B5EF4-FFF2-40B4-BE49-F238E27FC236}">
                <a16:creationId xmlns:a16="http://schemas.microsoft.com/office/drawing/2014/main" id="{5A964488-5068-4DFE-AC04-52765B8C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63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Parts 1 &amp; 3  |  CRNN classifier view  |  3 species  |  3 generation seeds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2A6041-B0AB-4B00-B823-B633EB41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5134B01-E006-40F7-9FE0-457DF923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rt-1-heading">
            <a:extLst xmlns:a="http://schemas.openxmlformats.org/drawingml/2006/main">
              <a:ext uri="{FF2B5EF4-FFF2-40B4-BE49-F238E27FC236}">
                <a16:creationId xmlns:a16="http://schemas.microsoft.com/office/drawing/2014/main" id="{73C70A7B-03ED-4678-9E9C-08552C92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  Generator quality is seed-dependent</a:t>
            </a:r>
          </a:p>
        </p:txBody>
      </p:sp>
      <p:sp>
        <p:nvSpPr>
          <p:cNvPr id="6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D6FA84F3-6A87-47BA-B8F1-CFAEAAA5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97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t-3-heading">
            <a:extLst xmlns:a="http://schemas.openxmlformats.org/drawingml/2006/main">
              <a:ext uri="{FF2B5EF4-FFF2-40B4-BE49-F238E27FC236}">
                <a16:creationId xmlns:a16="http://schemas.microsoft.com/office/drawing/2014/main" id="{3FEA03E3-0FDC-4BCF-A647-3ACDB824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62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 VAE-v3 helps in the low-resource test</a:t>
            </a:r>
          </a:p>
        </p:txBody>
      </p:sp>
      <p:sp>
        <p:nvSpPr>
          <p:cNvPr id="8" name="left-chart-bg">
            <a:extLst xmlns:a="http://schemas.openxmlformats.org/drawingml/2006/main">
              <a:ext uri="{FF2B5EF4-FFF2-40B4-BE49-F238E27FC236}">
                <a16:creationId xmlns:a16="http://schemas.microsoft.com/office/drawing/2014/main" id="{88231F1E-0528-44E6-B4E1-5160631A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3911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90550" y="1924050"/>
          <a:ext xmlns:a="http://schemas.openxmlformats.org/drawingml/2006/main" cx="512445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0d16c0df6a4e05"/>
          </a:graphicData>
        </a:graphic>
      </p:graphicFrame>
      <p:sp>
        <p:nvSpPr>
          <p:cNvPr id="10" name="right-chart-bg">
            <a:extLst xmlns:a="http://schemas.openxmlformats.org/drawingml/2006/main">
              <a:ext uri="{FF2B5EF4-FFF2-40B4-BE49-F238E27FC236}">
                <a16:creationId xmlns:a16="http://schemas.microsoft.com/office/drawing/2014/main" id="{8CD5C168-4494-4F80-A976-08B61571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53911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572250" y="1924050"/>
          <a:ext xmlns:a="http://schemas.openxmlformats.org/drawingml/2006/main" cx="493395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a578cd66094ffd"/>
          </a:graphicData>
        </a:graphic>
      </p:graphicFrame>
      <p:sp>
        <p:nvSpPr>
          <p:cNvPr id="12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D7E53633-20EB-4974-91FD-46A40ECA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Baseline: 84.75% macro F1 with 50 real spectrograms/species</a:t>
            </a:r>
          </a:p>
        </p:txBody>
      </p:sp>
      <p:sp>
        <p:nvSpPr>
          <p:cNvPr id="13" name="left-callout">
            <a:extLst xmlns:a="http://schemas.openxmlformats.org/drawingml/2006/main">
              <a:ext uri="{FF2B5EF4-FFF2-40B4-BE49-F238E27FC236}">
                <a16:creationId xmlns:a16="http://schemas.microsoft.com/office/drawing/2014/main" id="{D33F4750-3146-4059-9298-89B61B0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539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ft-callout-text">
            <a:extLst xmlns:a="http://schemas.openxmlformats.org/drawingml/2006/main">
              <a:ext uri="{FF2B5EF4-FFF2-40B4-BE49-F238E27FC236}">
                <a16:creationId xmlns:a16="http://schemas.microsoft.com/office/drawing/2014/main" id="{8C3CE0FA-0740-4608-8F7F-1352B66B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VAE-v3: stable at 96.9% macro F1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Diffusion: seed 42 collapses to 19.3% macro F1</a:t>
            </a:r>
          </a:p>
        </p:txBody>
      </p:sp>
      <p:sp>
        <p:nvSpPr>
          <p:cNvPr id="15" name="right-callout">
            <a:extLst xmlns:a="http://schemas.openxmlformats.org/drawingml/2006/main">
              <a:ext uri="{FF2B5EF4-FFF2-40B4-BE49-F238E27FC236}">
                <a16:creationId xmlns:a16="http://schemas.microsoft.com/office/drawing/2014/main" id="{940411F0-54DC-4FEA-8D08-854DA68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43450"/>
            <a:ext cx="5391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ight-callout-text">
            <a:extLst xmlns:a="http://schemas.openxmlformats.org/drawingml/2006/main">
              <a:ext uri="{FF2B5EF4-FFF2-40B4-BE49-F238E27FC236}">
                <a16:creationId xmlns:a16="http://schemas.microsoft.com/office/drawing/2014/main" id="{A4DBFB38-2AFF-4F26-AD63-52C8B75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VAE-v3: +2.93 pp in 8/9 matched runs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Diffusion: +0.42 pp; positive in 5/9 runs</a:t>
            </a:r>
          </a:p>
        </p:txBody>
      </p:sp>
      <p:sp>
        <p:nvSpPr>
          <p:cNvPr id="1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2D885854-85E2-434F-951A-B7797808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t-4-takeaway">
            <a:extLst xmlns:a="http://schemas.openxmlformats.org/drawingml/2006/main">
              <a:ext uri="{FF2B5EF4-FFF2-40B4-BE49-F238E27FC236}">
                <a16:creationId xmlns:a16="http://schemas.microsoft.com/office/drawing/2014/main" id="{AC711630-CD6A-44D7-8523-CE983AFB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D2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3D2DE"/>
                </a:solidFill>
                <a:latin typeface="Arial"/>
                <a:ea typeface="Arial"/>
                <a:cs typeface="Arial"/>
              </a:rPr>
              <a:t>4  TAKEAWAY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FEDBC805-1FE9-42C1-BC55-95797C68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864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Generated spectrograms can help a CRNN when labels are scarce—but generator stability matters.</a:t>
            </a:r>
          </a:p>
        </p:txBody>
      </p:sp>
      <p:sp>
        <p:nvSpPr>
          <p:cNvPr id="20" name="future-work">
            <a:extLst xmlns:a="http://schemas.openxmlformats.org/drawingml/2006/main">
              <a:ext uri="{FF2B5EF4-FFF2-40B4-BE49-F238E27FC236}">
                <a16:creationId xmlns:a16="http://schemas.microsoft.com/office/drawing/2014/main" id="{23F1EFD6-CC09-4577-AB98-5E5C3970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38800"/>
            <a:ext cx="4048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 Truly rare species  •  external holdout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training-exposure audit  •  &gt;200 samples/species</a:t>
            </a:r>
          </a:p>
        </p:txBody>
      </p:sp>
      <p:sp>
        <p:nvSpPr>
          <p:cNvPr id="21" name="part-2-fallback">
            <a:extLst xmlns:a="http://schemas.openxmlformats.org/drawingml/2006/main">
              <a:ext uri="{FF2B5EF4-FFF2-40B4-BE49-F238E27FC236}">
                <a16:creationId xmlns:a16="http://schemas.microsoft.com/office/drawing/2014/main" id="{7AA7CB18-F3A2-4637-A351-5790D89C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324600"/>
            <a:ext cx="4048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0D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8D0D9"/>
                </a:solidFill>
                <a:latin typeface="Arial"/>
                <a:ea typeface="Arial"/>
                <a:cs typeface="Arial"/>
              </a:rPr>
              <a:t>Part 2 fallback: with the full real set, neither generator demonstrated a mean gain against the unmatched historical baseline.</a:t>
            </a:r>
          </a:p>
        </p:txBody>
      </p:sp>
    </p:spTree>
    <p:extLst>
      <p:ext uri="{BB962C8B-B14F-4D97-AF65-F5344CB8AC3E}">
        <p14:creationId xmlns:p14="http://schemas.microsoft.com/office/powerpoint/2010/main" val="2011062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2026-08-10T20:11:02.8940000Z</dcterms:created>
  <dcterms:modified xsi:type="dcterms:W3CDTF">2026-08-10T20:11:02.8940000Z</dcterms:modified>
</coreProperties>
</file>